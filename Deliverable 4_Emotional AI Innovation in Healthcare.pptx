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 Medium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86B1DB-F133-46F3-9C66-73787B56F010}">
  <a:tblStyle styleId="{3D86B1DB-F133-46F3-9C66-73787B56F0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00300" y="1798290"/>
            <a:ext cx="11191398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Emotional AI in Healthcare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135510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Transforming Mental Wellness Through Empathetic Innovation and Proactive Care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324350" y="4583310"/>
            <a:ext cx="3543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Presented by: Ankita</a:t>
            </a:r>
            <a:r>
              <a:rPr b="1" lang="en-US" sz="15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Panpatil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857250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1181100"/>
            <a:ext cx="11601450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Transformation of an Industry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291465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 2026, AI has moved from a promising concept to a practical force in patient care and clinical workflows.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6987"/>
            <a:ext cx="533400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66987"/>
            <a:ext cx="533400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52500" y="2947987"/>
            <a:ext cx="4800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Closing the Stigma Gap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52500" y="3519487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Digital companions provide a judgment-free environment, encouraging users to open up about mental health concerns earlier than traditional therapy allows.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67500" y="2947987"/>
            <a:ext cx="4800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24/7 Resilience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67500" y="3519487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Crisis doesn't follow a schedule. Emotional AI provides immediate, low-cost intervention when human specialists are unavailable.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Emotional AI?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5937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" y="1862137"/>
            <a:ext cx="413385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6286500" y="29146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Personalized Clinical Insight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286500" y="3324225"/>
            <a:ext cx="5334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Mental healthcare institutions now utilize AI co-pilots to synthesize patient behavioral details and biometric logs. This continuous monitoring allows for precision treatment plans tailored to the unique emotional landscape of each patient, moving away from "one-size-fits-all" medicine.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2026 Industry Impact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524500" y="857250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1265396" y="1181100"/>
            <a:ext cx="9661207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Introducing: MindGuard AI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22764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proactive mental wellness companion for the modern workforce.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571500" y="17859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Proactive Burnout Prevention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2195512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MindGuard is a mobile-first platform designed to detect early indicators of stress and emotional fatigue. Unlike reactive apps, MindGuard uses ambient data to suggest micro-interventions before the user reaches a crisis point.</a:t>
            </a:r>
            <a:endParaRPr/>
          </a:p>
        </p:txBody>
      </p:sp>
      <p:pic>
        <p:nvPicPr>
          <p:cNvPr descr="image.png"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85937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885825" y="35290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952500" y="35290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Real-time sentiment mapping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85825" y="38147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952500" y="38147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Context-aware wellness prompts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85825" y="41005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952500" y="41005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Biometric feedback loop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App Concept: MindGuard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3137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43137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43137"/>
            <a:ext cx="3492549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884236" y="3490912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Sentiment Analysis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952500" y="3900487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Deep learning models analyze speech patterns and text entries to identify shifts in mood over time.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4662535" y="3490912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Biometric Sync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4730799" y="3900487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Seamlessly integrates with wearables to correlate emotional states with heart rate and sleep cycles.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8440835" y="3490912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Ethical Privacy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8509099" y="3900487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Uses local "On-Device" processing to ensure user data remains private and decentralized.</a:t>
            </a:r>
            <a:endParaRPr/>
          </a:p>
        </p:txBody>
      </p:sp>
      <p:pic>
        <p:nvPicPr>
          <p:cNvPr descr="image.png" id="158" name="Google Shape;15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7289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7289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7289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System Features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571500" y="2871787"/>
            <a:ext cx="5334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40%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71500" y="4586287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Reduction in Workplace Burnout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286500" y="30575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Improving User Experience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286500" y="3467100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Initial pilot studies across three global corporations demonstrated that users who engaged with MindGuard's "Predictive Resilience" features reported significantly lower levels of perceived stress and higher workplace satisfaction.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Measuring the Impact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" name="Google Shape;179;p21"/>
          <p:cNvGraphicFramePr/>
          <p:nvPr/>
        </p:nvGraphicFramePr>
        <p:xfrm>
          <a:off x="571500" y="2324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{3D86B1DB-F133-46F3-9C66-73787B56F010}</a:tableStyleId>
              </a:tblPr>
              <a:tblGrid>
                <a:gridCol w="3292675"/>
                <a:gridCol w="3409800"/>
                <a:gridCol w="4346525"/>
              </a:tblGrid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Traditional Care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MindGuard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Availability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Schedule Dependent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24/7 Real-Time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per Interaction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 ($150+)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Subscription-Based (Low)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Self-Reported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Continuous Biometric + NLP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Prevention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Predictive &amp; Proactive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21"/>
          <p:cNvSpPr/>
          <p:nvPr/>
        </p:nvSpPr>
        <p:spPr>
          <a:xfrm>
            <a:off x="571500" y="3681412"/>
            <a:ext cx="3292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864173" y="3681412"/>
            <a:ext cx="3409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7273974" y="3681412"/>
            <a:ext cx="434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71500" y="4357687"/>
            <a:ext cx="3292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3864173" y="4357687"/>
            <a:ext cx="3409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7273974" y="4357687"/>
            <a:ext cx="434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71500" y="5033962"/>
            <a:ext cx="3292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864173" y="5033962"/>
            <a:ext cx="3409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7273974" y="5033962"/>
            <a:ext cx="434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71500" y="5710237"/>
            <a:ext cx="3292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3864173" y="5710237"/>
            <a:ext cx="34098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7273974" y="5710237"/>
            <a:ext cx="434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Evolution of Support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71500" y="48339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Growth driven by the "Companion Effect" where AI design reinforces positive cognitive habits.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Adoption &amp; Engagement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571500" y="23812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Human-Centric Future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2790825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Emotional AI is not a replacement for human therapy, but a force multiplier. By providing immediate support and early detection, we free human professionals to focus on deep, complex clinical cases.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431482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Main Benefits: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885825" y="49434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952500" y="49434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Earlier identification of risk factors.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885825" y="52292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952500" y="522922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Global accessibility to mental hygiene.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885825" y="55149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952500" y="55149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Data-backed personalized interventions.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09625" y="762000"/>
            <a:ext cx="4950618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Benefits of Empathetic Tech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571500" y="762000"/>
            <a:ext cx="95250" cy="12382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295275" y="571500"/>
            <a:ext cx="116014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571500" y="202882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Thank you for exploring the future of mental healthcare innovation.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2905125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Ankita Mukund Panpatil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4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/>
          <p:nvPr/>
        </p:nvSpPr>
        <p:spPr>
          <a:xfrm>
            <a:off x="571500" y="27765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71500" y="35480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71500" y="3538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71500" y="3538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4310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4310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9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1666875" y="29265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https://wetreatfeetpodiatry.com/images/blog/AI-at-WeTreatFeet-Podiatry.webp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1666875" y="31599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wetreatfeetpodiatry.com</a:t>
            </a:r>
            <a:endParaRPr/>
          </a:p>
        </p:txBody>
      </p:sp>
      <p:pic>
        <p:nvPicPr>
          <p:cNvPr descr="image.png" id="242" name="Google Shape;24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90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1666875" y="36980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https://cdn.dribbble.com/userupload/43686709/file/62a2f7bb3ccc95e3944aa13b92fe567a.jpg?crop=0x0-6402x4801&amp;format=webp&amp;resize=400x300&amp;vertical=center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1666875" y="39314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dribbble.com</a:t>
            </a:r>
            <a:endParaRPr/>
          </a:p>
        </p:txBody>
      </p:sp>
      <p:pic>
        <p:nvPicPr>
          <p:cNvPr descr="image.png" id="245" name="Google Shape;24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624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1666875" y="44696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https://multipurposethemes.com/wp-content/uploads/2025/03/crm-dashboard-template-feature-images.jpg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1666875" y="47029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multipurposethemes.com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